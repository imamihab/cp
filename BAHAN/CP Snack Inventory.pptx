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61" r:id="rId9"/>
    <p:sldId id="262" r:id="rId10"/>
    <p:sldId id="263" r:id="rId11"/>
    <p:sldId id="264" r:id="rId12"/>
    <p:sldId id="270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2" d="100"/>
          <a:sy n="72" d="100"/>
        </p:scale>
        <p:origin x="4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97280"/>
            <a:ext cx="4480560" cy="44805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875520" y="4572000"/>
            <a:ext cx="3017520" cy="301752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1097280" y="5212080"/>
            <a:ext cx="2743200" cy="2743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731520"/>
            <a:ext cx="786384" cy="7863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822960"/>
            <a:ext cx="7863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2563EB"/>
                </a:solidFill>
              </a:defRPr>
            </a:pPr>
            <a:r>
              <a:t>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8288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300" b="1">
                <a:solidFill>
                  <a:srgbClr val="FFFFFF"/>
                </a:solidFill>
              </a:defRPr>
            </a:pPr>
            <a:r>
              <a:t>Snack Inventory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633472"/>
            <a:ext cx="9784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D6E4FF"/>
                </a:solidFill>
              </a:defRPr>
            </a:pPr>
            <a:r>
              <a:t>Sistem Informasi Manajemen Inventori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310128"/>
            <a:ext cx="20116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3328416"/>
            <a:ext cx="2011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PRESENTASI TIM 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160520"/>
            <a:ext cx="9601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Konsep sistem • Database • Flow transaksi • Workflow 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828032"/>
            <a:ext cx="8961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D2E0F7"/>
                </a:solidFill>
              </a:defRPr>
            </a:pPr>
            <a:r>
              <a:t>Materi untuk menyamakan pemahaman sebelum pembagian pekerjaan tim.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5961888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BED2F0"/>
                </a:solidFill>
              </a:defRPr>
            </a:pPr>
            <a: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438912"/>
            <a:ext cx="5303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03504"/>
            <a:ext cx="10424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t>Tujuan proyek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143000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Kita membangun sistem yang menyelesaikan kebutuhan inti inventori.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12648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506074"/>
                </a:solidFill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107442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1810512"/>
            <a:ext cx="10104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2563EB"/>
                </a:solidFill>
              </a:defRPr>
            </a:pPr>
            <a:r>
              <a:t>Membuat pencatatan stok lebih cepat, terstruktur, dan mudah dilacak.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63240"/>
            <a:ext cx="34290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306324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32688" y="3264408"/>
            <a:ext cx="393192" cy="393192"/>
          </a:xfrm>
          <a:prstGeom prst="round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" y="3300984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255264"/>
            <a:ext cx="25328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Masalah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58184"/>
            <a:ext cx="253288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• Stok sulit dipantau</a:t>
            </a:r>
            <a:br/>
            <a:r>
              <a:t>• Pencatatan rawan selisih</a:t>
            </a:r>
            <a:br/>
            <a:r>
              <a:t>• Riwayat transaksi tidak terpusat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063240"/>
            <a:ext cx="34290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89120" y="3063240"/>
            <a:ext cx="73152" cy="2148840"/>
          </a:xfrm>
          <a:prstGeom prst="rect">
            <a:avLst/>
          </a:prstGeom>
          <a:solidFill>
            <a:srgbClr val="109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90288" y="3264408"/>
            <a:ext cx="393192" cy="393192"/>
          </a:xfrm>
          <a:prstGeom prst="roundRect">
            <a:avLst/>
          </a:prstGeom>
          <a:solidFill>
            <a:srgbClr val="EB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90288" y="3300984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109659"/>
                </a:solidFill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255264"/>
            <a:ext cx="25328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Solusi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758184"/>
            <a:ext cx="253288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• Master barang terpusat</a:t>
            </a:r>
            <a:br/>
            <a:r>
              <a:t>• Transaksi IN / OUT</a:t>
            </a:r>
            <a:br/>
            <a:r>
              <a:t>• Stok otomatis berubah</a:t>
            </a:r>
            <a:br/>
            <a:r>
              <a:t>• Riwayat tersimpan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063240"/>
            <a:ext cx="34290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46720" y="3063240"/>
            <a:ext cx="73152" cy="2148840"/>
          </a:xfrm>
          <a:prstGeom prst="rect">
            <a:avLst/>
          </a:prstGeom>
          <a:solidFill>
            <a:srgbClr val="704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247888" y="3264408"/>
            <a:ext cx="393192" cy="393192"/>
          </a:xfrm>
          <a:prstGeom prst="roundRect">
            <a:avLst/>
          </a:prstGeom>
          <a:solidFill>
            <a:srgbClr val="F4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47888" y="3300984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704EBE"/>
                </a:solidFill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3255264"/>
            <a:ext cx="25328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Hasil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758184"/>
            <a:ext cx="253288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• Kondisi stok mudah dipantau</a:t>
            </a:r>
            <a:br/>
            <a:r>
              <a:t>• Data lebih konsisten</a:t>
            </a:r>
            <a:br/>
            <a:r>
              <a:t>• Laporan lebih mudah dibuat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6528816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06074"/>
                </a:solidFill>
              </a:defRPr>
            </a:pPr>
            <a:r>
              <a:t>Snack Inventory • Capstone / CP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438912"/>
            <a:ext cx="5303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03504"/>
            <a:ext cx="10424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t>Scope sistem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143000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Scope dijaga agar tim fokus menyelesaikan core inventory.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12648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506074"/>
                </a:solidFill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66294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1783080"/>
            <a:ext cx="1508760" cy="365760"/>
          </a:xfrm>
          <a:prstGeom prst="roundRect">
            <a:avLst/>
          </a:prstGeom>
          <a:solidFill>
            <a:srgbClr val="109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801368"/>
            <a:ext cx="1508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589788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0F172A"/>
                </a:solidFill>
              </a:defRPr>
            </a:pPr>
            <a:r>
              <a:t>Login dan role pengguna</a:t>
            </a:r>
          </a:p>
          <a:p>
            <a:pPr>
              <a:spcAft>
                <a:spcPts val="900"/>
              </a:spcAft>
              <a:defRPr sz="1500">
                <a:solidFill>
                  <a:srgbClr val="0F172A"/>
                </a:solidFill>
              </a:defRPr>
            </a:pPr>
            <a:r>
              <a:t>Master kategori</a:t>
            </a:r>
          </a:p>
          <a:p>
            <a:pPr>
              <a:spcAft>
                <a:spcPts val="900"/>
              </a:spcAft>
              <a:defRPr sz="1500">
                <a:solidFill>
                  <a:srgbClr val="0F172A"/>
                </a:solidFill>
              </a:defRPr>
            </a:pPr>
            <a:r>
              <a:t>Master barang</a:t>
            </a:r>
          </a:p>
          <a:p>
            <a:pPr>
              <a:spcAft>
                <a:spcPts val="900"/>
              </a:spcAft>
              <a:defRPr sz="1500">
                <a:solidFill>
                  <a:srgbClr val="0F172A"/>
                </a:solidFill>
              </a:defRPr>
            </a:pPr>
            <a:r>
              <a:t>Stok masuk</a:t>
            </a:r>
          </a:p>
          <a:p>
            <a:pPr>
              <a:spcAft>
                <a:spcPts val="900"/>
              </a:spcAft>
              <a:defRPr sz="1500">
                <a:solidFill>
                  <a:srgbClr val="0F172A"/>
                </a:solidFill>
              </a:defRPr>
            </a:pPr>
            <a:r>
              <a:t>Stok keluar</a:t>
            </a:r>
          </a:p>
          <a:p>
            <a:pPr>
              <a:spcAft>
                <a:spcPts val="900"/>
              </a:spcAft>
              <a:defRPr sz="1500">
                <a:solidFill>
                  <a:srgbClr val="0F172A"/>
                </a:solidFill>
              </a:defRPr>
            </a:pPr>
            <a:r>
              <a:t>Riwayat transaksi stok</a:t>
            </a:r>
          </a:p>
          <a:p>
            <a:pPr>
              <a:spcAft>
                <a:spcPts val="900"/>
              </a:spcAft>
              <a:defRPr sz="1500">
                <a:solidFill>
                  <a:srgbClr val="0F172A"/>
                </a:solidFill>
              </a:defRPr>
            </a:pPr>
            <a:r>
              <a:t>Status Normal / Menipis / Habis</a:t>
            </a:r>
          </a:p>
          <a:p>
            <a:pPr>
              <a:spcAft>
                <a:spcPts val="900"/>
              </a:spcAft>
              <a:defRPr sz="1500">
                <a:solidFill>
                  <a:srgbClr val="0F172A"/>
                </a:solidFill>
              </a:defRPr>
            </a:pPr>
            <a:r>
              <a:t>Dashboard dan laporan stok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38862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863840" y="1783080"/>
            <a:ext cx="1691640" cy="365760"/>
          </a:xfrm>
          <a:prstGeom prst="roundRect">
            <a:avLst/>
          </a:prstGeom>
          <a:solidFill>
            <a:srgbClr val="DC3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0" y="1801368"/>
            <a:ext cx="1691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OUT OF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331720"/>
            <a:ext cx="329184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506074"/>
                </a:solidFill>
              </a:defRPr>
            </a:pPr>
            <a:r>
              <a:t>POS / kasir</a:t>
            </a:r>
          </a:p>
          <a:p>
            <a:pPr>
              <a:spcAft>
                <a:spcPts val="1000"/>
              </a:spcAft>
              <a:defRPr sz="1400">
                <a:solidFill>
                  <a:srgbClr val="506074"/>
                </a:solidFill>
              </a:defRPr>
            </a:pPr>
            <a:r>
              <a:t>Accounting</a:t>
            </a:r>
          </a:p>
          <a:p>
            <a:pPr>
              <a:spcAft>
                <a:spcPts val="1000"/>
              </a:spcAft>
              <a:defRPr sz="1400">
                <a:solidFill>
                  <a:srgbClr val="506074"/>
                </a:solidFill>
              </a:defRPr>
            </a:pPr>
            <a:r>
              <a:t>Payment gateway</a:t>
            </a:r>
          </a:p>
          <a:p>
            <a:pPr>
              <a:spcAft>
                <a:spcPts val="1000"/>
              </a:spcAft>
              <a:defRPr sz="1400">
                <a:solidFill>
                  <a:srgbClr val="506074"/>
                </a:solidFill>
              </a:defRPr>
            </a:pPr>
            <a:r>
              <a:t>Marketplace</a:t>
            </a:r>
          </a:p>
          <a:p>
            <a:pPr>
              <a:spcAft>
                <a:spcPts val="1000"/>
              </a:spcAft>
              <a:defRPr sz="1400">
                <a:solidFill>
                  <a:srgbClr val="506074"/>
                </a:solidFill>
              </a:defRPr>
            </a:pPr>
            <a:r>
              <a:t>WhatsApp Gateway</a:t>
            </a:r>
          </a:p>
          <a:p>
            <a:pPr>
              <a:spcAft>
                <a:spcPts val="1000"/>
              </a:spcAft>
              <a:defRPr sz="1400">
                <a:solidFill>
                  <a:srgbClr val="506074"/>
                </a:solidFill>
              </a:defRPr>
            </a:pPr>
            <a:r>
              <a:t>Forecasting / ML</a:t>
            </a:r>
          </a:p>
          <a:p>
            <a:pPr>
              <a:spcAft>
                <a:spcPts val="1000"/>
              </a:spcAft>
              <a:defRPr sz="1400">
                <a:solidFill>
                  <a:srgbClr val="506074"/>
                </a:solidFill>
              </a:defRPr>
            </a:pPr>
            <a:r>
              <a:t>Supplier kompleks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44068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C3746"/>
                </a:solidFill>
              </a:defRPr>
            </a:pPr>
            <a:r>
              <a:t>Fitur tambahan bisa dibahas setelah core system stabil.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6528816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06074"/>
                </a:solidFill>
              </a:defRPr>
            </a:pPr>
            <a:r>
              <a:t>Snack Inventory • Capstone / CP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438912"/>
            <a:ext cx="5303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03504"/>
            <a:ext cx="10424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t>Modul aplikasi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143000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Setiap modul punya fungsi yang jelas dan saling terhubung.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12648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506074"/>
                </a:solidFill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442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60120" y="1691639"/>
            <a:ext cx="475488" cy="475488"/>
          </a:xfrm>
          <a:prstGeom prst="round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475488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64207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664207"/>
            <a:ext cx="6995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06074"/>
                </a:solidFill>
              </a:defRPr>
            </a:pPr>
            <a:r>
              <a:t>Ringkasan jumlah barang, total stok, stok menipis, dan stok habis.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514600"/>
            <a:ext cx="107442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0120" y="2697480"/>
            <a:ext cx="475488" cy="475488"/>
          </a:xfrm>
          <a:prstGeom prst="roundRect">
            <a:avLst/>
          </a:prstGeom>
          <a:solidFill>
            <a:srgbClr val="F4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2770632"/>
            <a:ext cx="475488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704EBE"/>
                </a:solidFill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</a:defRPr>
            </a:pPr>
            <a:r>
              <a:t>Master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670048"/>
            <a:ext cx="6995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06074"/>
                </a:solidFill>
              </a:defRPr>
            </a:pPr>
            <a:r>
              <a:t>Kategori dan barang menjadi sumber data utama transaksi.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20440"/>
            <a:ext cx="107442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60120" y="3703320"/>
            <a:ext cx="475488" cy="475488"/>
          </a:xfrm>
          <a:prstGeom prst="roundRect">
            <a:avLst/>
          </a:prstGeom>
          <a:solidFill>
            <a:srgbClr val="EB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776472"/>
            <a:ext cx="475488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109659"/>
                </a:solidFill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7588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</a:defRPr>
            </a:pPr>
            <a:r>
              <a:t>Manajemen Stok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3675888"/>
            <a:ext cx="6995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06074"/>
                </a:solidFill>
              </a:defRPr>
            </a:pPr>
            <a:r>
              <a:t>Satu halaman untuk Stok Masuk, Stok Keluar, dan Riwayat.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26280"/>
            <a:ext cx="107442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60120" y="4709160"/>
            <a:ext cx="475488" cy="475488"/>
          </a:xfrm>
          <a:prstGeom prst="roundRect">
            <a:avLst/>
          </a:prstGeom>
          <a:solidFill>
            <a:srgbClr val="FFF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4782312"/>
            <a:ext cx="475488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8172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</a:defRPr>
            </a:pPr>
            <a:r>
              <a:t>Laporan Stok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4681728"/>
            <a:ext cx="6995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06074"/>
                </a:solidFill>
              </a:defRPr>
            </a:pPr>
            <a:r>
              <a:t>Melihat kondisi dan rekap persediaan berdasarkan data transaksi.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6528816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06074"/>
                </a:solidFill>
              </a:defRPr>
            </a:pPr>
            <a:r>
              <a:t>Snack Inventory • Capstone / CP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438912"/>
            <a:ext cx="5303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03504"/>
            <a:ext cx="10424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t>ERD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143000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Database saat ini terdiri dari 4 tabel utama.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12648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506074"/>
                </a:solidFill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704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554480"/>
            <a:ext cx="2560320" cy="393192"/>
          </a:xfrm>
          <a:prstGeom prst="rect">
            <a:avLst/>
          </a:prstGeom>
          <a:solidFill>
            <a:srgbClr val="704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5528" y="1618488"/>
            <a:ext cx="234086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categories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057400"/>
            <a:ext cx="2304287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</a:defRPr>
            </a:pPr>
            <a:r>
              <a:t>PK id</a:t>
            </a:r>
            <a:br/>
            <a:r>
              <a:t>name</a:t>
            </a:r>
            <a:br/>
            <a:r>
              <a:t>description</a:t>
            </a:r>
            <a:br/>
            <a:r>
              <a:t>created_at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1417320"/>
            <a:ext cx="315468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886200" y="1417320"/>
            <a:ext cx="3154680" cy="3931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95928" y="1481328"/>
            <a:ext cx="29352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products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4215" y="1920240"/>
            <a:ext cx="2898648" cy="2075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</a:defRPr>
            </a:pPr>
            <a:r>
              <a:t>PK id</a:t>
            </a:r>
            <a:br/>
            <a:r>
              <a:t>FK category_id</a:t>
            </a:r>
            <a:br/>
            <a:r>
              <a:t>code UNIQUE</a:t>
            </a:r>
            <a:br/>
            <a:r>
              <a:t>name</a:t>
            </a:r>
            <a:br/>
            <a:r>
              <a:t>unit</a:t>
            </a:r>
            <a:br/>
            <a:r>
              <a:t>minimum_stock</a:t>
            </a:r>
            <a:br/>
            <a:r>
              <a:t>stock</a:t>
            </a:r>
            <a:br/>
            <a:r>
              <a:t>created_at</a:t>
            </a:r>
            <a:br/>
            <a:r>
              <a:t>updated_at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54480"/>
            <a:ext cx="347472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C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0" y="1554480"/>
            <a:ext cx="3474720" cy="393192"/>
          </a:xfrm>
          <a:prstGeom prst="rect">
            <a:avLst/>
          </a:prstGeom>
          <a:solidFill>
            <a:srgbClr val="DC3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82127" y="1618488"/>
            <a:ext cx="325526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stock_movements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0416" y="2057400"/>
            <a:ext cx="3218687" cy="1755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</a:defRPr>
            </a:pPr>
            <a:r>
              <a:t>PK id</a:t>
            </a:r>
            <a:br/>
            <a:r>
              <a:t>FK product_id</a:t>
            </a:r>
            <a:br/>
            <a:r>
              <a:t>type: IN / OUT</a:t>
            </a:r>
            <a:br/>
            <a:r>
              <a:t>quantity</a:t>
            </a:r>
            <a:br/>
            <a:r>
              <a:t>description</a:t>
            </a:r>
            <a:br/>
            <a:r>
              <a:t>FK user_id</a:t>
            </a:r>
            <a:br/>
            <a:r>
              <a:t>created_at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434840"/>
            <a:ext cx="347472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1096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0" y="4434840"/>
            <a:ext cx="3474720" cy="393192"/>
          </a:xfrm>
          <a:prstGeom prst="rect">
            <a:avLst/>
          </a:prstGeom>
          <a:solidFill>
            <a:srgbClr val="109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82127" y="4498848"/>
            <a:ext cx="325526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users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0416" y="4937759"/>
            <a:ext cx="3218687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</a:defRPr>
            </a:pPr>
            <a:r>
              <a:t>PK id</a:t>
            </a:r>
            <a:br/>
            <a:r>
              <a:t>name</a:t>
            </a:r>
            <a:br/>
            <a:r>
              <a:t>username UNIQUE</a:t>
            </a:r>
            <a:br/>
            <a:r>
              <a:t>password</a:t>
            </a:r>
            <a:br/>
            <a:r>
              <a:t>role</a:t>
            </a:r>
            <a:br/>
            <a:r>
              <a:t>created_at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2514600"/>
            <a:ext cx="640080" cy="0"/>
          </a:xfrm>
          <a:prstGeom prst="line">
            <a:avLst/>
          </a:prstGeom>
          <a:ln w="27940">
            <a:solidFill>
              <a:srgbClr val="50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40880" y="2514600"/>
            <a:ext cx="731520" cy="0"/>
          </a:xfrm>
          <a:prstGeom prst="line">
            <a:avLst/>
          </a:prstGeom>
          <a:ln w="27940">
            <a:solidFill>
              <a:srgbClr val="50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509760" y="3886200"/>
            <a:ext cx="0" cy="548640"/>
          </a:xfrm>
          <a:prstGeom prst="line">
            <a:avLst/>
          </a:prstGeom>
          <a:ln w="27940">
            <a:solidFill>
              <a:srgbClr val="50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364992" y="2212848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2212848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8" y="2212848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9792" y="2212848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3950208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6920" y="4187952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989320"/>
            <a:ext cx="2971800" cy="365760"/>
          </a:xfrm>
          <a:prstGeom prst="roundRect">
            <a:avLst/>
          </a:prstGeom>
          <a:solidFill>
            <a:srgbClr val="704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7240" y="6007607"/>
            <a:ext cx="2971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Kategori 1 : N Barang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69080" y="5989320"/>
            <a:ext cx="333756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069080" y="6007607"/>
            <a:ext cx="3337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Barang 1 : N Transaksi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26679" y="5989320"/>
            <a:ext cx="3154680" cy="365760"/>
          </a:xfrm>
          <a:prstGeom prst="roundRect">
            <a:avLst/>
          </a:prstGeom>
          <a:solidFill>
            <a:srgbClr val="109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26679" y="6007607"/>
            <a:ext cx="3154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User 1 : N Transaksi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" y="6528816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06074"/>
                </a:solidFill>
              </a:defRPr>
            </a:pPr>
            <a:r>
              <a:t>Snack Inventory • Capstone / CP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438912"/>
            <a:ext cx="5303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03504"/>
            <a:ext cx="10424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t>ERD database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FEFAC962-5FA0-4901-A69C-E9C374B8DD4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731"/>
          <a:stretch/>
        </p:blipFill>
        <p:spPr>
          <a:xfrm>
            <a:off x="859536" y="1261872"/>
            <a:ext cx="10287000" cy="5596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127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438912"/>
            <a:ext cx="5303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03504"/>
            <a:ext cx="10424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lang="en-US" dirty="0"/>
              <a:t>FLOWCHART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154AAB-6903-4FB4-AD5E-F275597E26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611"/>
          <a:stretch/>
        </p:blipFill>
        <p:spPr>
          <a:xfrm>
            <a:off x="952500" y="1170432"/>
            <a:ext cx="10287000" cy="568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245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438912"/>
            <a:ext cx="5303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03504"/>
            <a:ext cx="10424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t>Cara membaca relasi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143000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Tiga hubungan utama yang perlu dipahami tim.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12648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506074"/>
                </a:solidFill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508760"/>
            <a:ext cx="73152" cy="3566160"/>
          </a:xfrm>
          <a:prstGeom prst="rect">
            <a:avLst/>
          </a:prstGeom>
          <a:solidFill>
            <a:srgbClr val="704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32688" y="1709928"/>
            <a:ext cx="393192" cy="393192"/>
          </a:xfrm>
          <a:prstGeom prst="roundRect">
            <a:avLst/>
          </a:prstGeom>
          <a:solidFill>
            <a:srgbClr val="F4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746504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704EBE"/>
                </a:solidFill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00784"/>
            <a:ext cx="25328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Kategori → Barang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203704"/>
            <a:ext cx="2532888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1 kategori dapat memiliki banyak barang.</a:t>
            </a:r>
            <a:br/>
            <a:br/>
            <a:r>
              <a:t>Contoh:</a:t>
            </a:r>
            <a:br/>
            <a:r>
              <a:t>Snack → Keripik, Permen, Biskuit.</a:t>
            </a:r>
            <a:br/>
            <a:br/>
            <a:r>
              <a:t>FK: products.category_id</a:t>
            </a:r>
            <a:br/>
            <a:r>
              <a:t>→ categories.id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50876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89120" y="1508760"/>
            <a:ext cx="73152" cy="3566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90288" y="1709928"/>
            <a:ext cx="393192" cy="393192"/>
          </a:xfrm>
          <a:prstGeom prst="round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90288" y="1746504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700784"/>
            <a:ext cx="25328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Barang → Transaksi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203704"/>
            <a:ext cx="2532888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1 barang dapat memiliki banyak transaksi.</a:t>
            </a:r>
            <a:br/>
            <a:br/>
            <a:r>
              <a:t>Contoh:</a:t>
            </a:r>
            <a:br/>
            <a:r>
              <a:t>Keripik → IN 50 → OUT 10 → IN 20.</a:t>
            </a:r>
            <a:br/>
            <a:br/>
            <a:r>
              <a:t>FK: stock_movements.product_id</a:t>
            </a:r>
            <a:br/>
            <a:r>
              <a:t>→ products.id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50876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508760"/>
            <a:ext cx="73152" cy="3566160"/>
          </a:xfrm>
          <a:prstGeom prst="rect">
            <a:avLst/>
          </a:prstGeom>
          <a:solidFill>
            <a:srgbClr val="109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247888" y="1709928"/>
            <a:ext cx="393192" cy="393192"/>
          </a:xfrm>
          <a:prstGeom prst="roundRect">
            <a:avLst/>
          </a:prstGeom>
          <a:solidFill>
            <a:srgbClr val="EB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47888" y="1746504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109659"/>
                </a:solidFill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1700784"/>
            <a:ext cx="25328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User → Transaksi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203704"/>
            <a:ext cx="2532888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1 user dapat mencatat banyak transaksi.</a:t>
            </a:r>
            <a:br/>
            <a:br/>
            <a:r>
              <a:t>Contoh:</a:t>
            </a:r>
            <a:br/>
            <a:r>
              <a:t>Admin mencatat beberapa transaksi stok.</a:t>
            </a:r>
            <a:br/>
            <a:br/>
            <a:r>
              <a:t>FK: stock_movements.user_id</a:t>
            </a:r>
            <a:br/>
            <a:r>
              <a:t>→ users.id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DC3746"/>
                </a:solidFill>
              </a:defRPr>
            </a:pPr>
            <a:r>
              <a:t>Catatan: reference_no belum ada di schema database saat ini.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6528816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06074"/>
                </a:solidFill>
              </a:defRPr>
            </a:pPr>
            <a:r>
              <a:t>Snack Inventory • Capstone / CP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438912"/>
            <a:ext cx="5303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03504"/>
            <a:ext cx="10424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t>Flow manajemen stok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143000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Proses dibuat satu halaman agar admin tidak berpindah-pindah menu.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12648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506074"/>
                </a:solidFill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59" y="2011680"/>
            <a:ext cx="438912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2093976"/>
            <a:ext cx="438912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1" y="1993392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</a:defRPr>
            </a:pPr>
            <a:r>
              <a:t>Pilih barang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06039" y="2450592"/>
            <a:ext cx="246889" cy="0"/>
          </a:xfrm>
          <a:prstGeom prst="line">
            <a:avLst/>
          </a:prstGeom>
          <a:ln w="25400">
            <a:solidFill>
              <a:srgbClr val="50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18288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063240" y="2011680"/>
            <a:ext cx="438912" cy="438912"/>
          </a:xfrm>
          <a:prstGeom prst="roundRect">
            <a:avLst/>
          </a:prstGeom>
          <a:solidFill>
            <a:srgbClr val="109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63240" y="2093976"/>
            <a:ext cx="438912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1993392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</a:defRPr>
            </a:pPr>
            <a:r>
              <a:t>Pilih IN / OUT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46320" y="2450592"/>
            <a:ext cx="246888" cy="0"/>
          </a:xfrm>
          <a:prstGeom prst="line">
            <a:avLst/>
          </a:prstGeom>
          <a:ln w="25400">
            <a:solidFill>
              <a:srgbClr val="50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120640" y="18288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303520" y="2011680"/>
            <a:ext cx="438912" cy="43891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0" y="2093976"/>
            <a:ext cx="438912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9592" y="1993392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</a:defRPr>
            </a:pPr>
            <a:r>
              <a:t>Isi quantity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86600" y="2450592"/>
            <a:ext cx="246888" cy="0"/>
          </a:xfrm>
          <a:prstGeom prst="line">
            <a:avLst/>
          </a:prstGeom>
          <a:ln w="25400">
            <a:solidFill>
              <a:srgbClr val="50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360920" y="18288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543800" y="2011680"/>
            <a:ext cx="438912" cy="438912"/>
          </a:xfrm>
          <a:prstGeom prst="roundRect">
            <a:avLst/>
          </a:prstGeom>
          <a:solidFill>
            <a:srgbClr val="704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43800" y="2093976"/>
            <a:ext cx="438912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1993392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</a:defRPr>
            </a:pPr>
            <a:r>
              <a:t>Simpan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26880" y="2450592"/>
            <a:ext cx="246888" cy="0"/>
          </a:xfrm>
          <a:prstGeom prst="line">
            <a:avLst/>
          </a:prstGeom>
          <a:ln w="25400">
            <a:solidFill>
              <a:srgbClr val="50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601200" y="18288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84080" y="2011680"/>
            <a:ext cx="438912" cy="43891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84080" y="2093976"/>
            <a:ext cx="438912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0152" y="1993392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</a:defRPr>
            </a:pPr>
            <a:r>
              <a:t>Stock berubah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3703320"/>
            <a:ext cx="49834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14400" y="3703320"/>
            <a:ext cx="73152" cy="1508760"/>
          </a:xfrm>
          <a:prstGeom prst="rect">
            <a:avLst/>
          </a:prstGeom>
          <a:solidFill>
            <a:srgbClr val="109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115568" y="3904487"/>
            <a:ext cx="393192" cy="393192"/>
          </a:xfrm>
          <a:prstGeom prst="roundRect">
            <a:avLst/>
          </a:prstGeom>
          <a:solidFill>
            <a:srgbClr val="EB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15568" y="3941063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109659"/>
                </a:solidFill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0" y="3895344"/>
            <a:ext cx="40873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STOK MASUK (IN)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4398264"/>
            <a:ext cx="4087368" cy="6857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Quantity ditambahkan ke stock.</a:t>
            </a:r>
            <a:br/>
            <a:r>
              <a:t>Transaksi disimpan sebagai type = IN.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3703320"/>
            <a:ext cx="49834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263640" y="3703320"/>
            <a:ext cx="73152" cy="1508760"/>
          </a:xfrm>
          <a:prstGeom prst="rect">
            <a:avLst/>
          </a:prstGeom>
          <a:solidFill>
            <a:srgbClr val="DC3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464807" y="3904487"/>
            <a:ext cx="393192" cy="393192"/>
          </a:xfrm>
          <a:prstGeom prst="roundRect">
            <a:avLst/>
          </a:prstGeom>
          <a:solidFill>
            <a:srgbClr val="FF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64807" y="3941063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DC3746"/>
                </a:solidFill>
              </a:defRPr>
            </a:pPr>
            <a: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59" y="3895344"/>
            <a:ext cx="40873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STOK KELUAR (OUT)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59" y="4398264"/>
            <a:ext cx="4087368" cy="6857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Quantity dikurangi dari stock.</a:t>
            </a:r>
            <a:br/>
            <a:r>
              <a:t>Stock tidak boleh menjadi negatif.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528816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06074"/>
                </a:solidFill>
              </a:defRPr>
            </a:pPr>
            <a:r>
              <a:t>Snack Inventory • Capstone / CP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438912"/>
            <a:ext cx="5303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03504"/>
            <a:ext cx="10424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t>Konsep UI / 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143000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Tampilan diarahkan modern, konsisten, tetapi tetap sederhana.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12648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506074"/>
                </a:solidFill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4290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508760"/>
            <a:ext cx="73152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32688" y="1709928"/>
            <a:ext cx="393192" cy="393192"/>
          </a:xfrm>
          <a:prstGeom prst="round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746504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00784"/>
            <a:ext cx="25328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203704"/>
            <a:ext cx="253288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Card ringkasan:</a:t>
            </a:r>
            <a:br/>
            <a:r>
              <a:t>Total Barang • Total Stok</a:t>
            </a:r>
            <a:br/>
            <a:r>
              <a:t>Stok Menipis • Stok Habis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508760"/>
            <a:ext cx="34290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89120" y="1508760"/>
            <a:ext cx="73152" cy="2057400"/>
          </a:xfrm>
          <a:prstGeom prst="rect">
            <a:avLst/>
          </a:prstGeom>
          <a:solidFill>
            <a:srgbClr val="704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90288" y="1709928"/>
            <a:ext cx="393192" cy="393192"/>
          </a:xfrm>
          <a:prstGeom prst="roundRect">
            <a:avLst/>
          </a:prstGeom>
          <a:solidFill>
            <a:srgbClr val="F4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90288" y="1746504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704EBE"/>
                </a:solidFill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700784"/>
            <a:ext cx="25328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Master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203704"/>
            <a:ext cx="253288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Tabel data + modal popup untuk tambah/edit + notifikasi aksi.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508760"/>
            <a:ext cx="34290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508760"/>
            <a:ext cx="73152" cy="2057400"/>
          </a:xfrm>
          <a:prstGeom prst="rect">
            <a:avLst/>
          </a:prstGeom>
          <a:solidFill>
            <a:srgbClr val="109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247888" y="1709928"/>
            <a:ext cx="393192" cy="393192"/>
          </a:xfrm>
          <a:prstGeom prst="roundRect">
            <a:avLst/>
          </a:prstGeom>
          <a:solidFill>
            <a:srgbClr val="EB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47888" y="1746504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109659"/>
                </a:solidFill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1700784"/>
            <a:ext cx="25328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Manajemen Stok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203704"/>
            <a:ext cx="253288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Tombol IN / OUT menggunakan modal popup dalam satu halaman.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977639"/>
            <a:ext cx="107442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4233672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Prinsip desain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160520"/>
            <a:ext cx="8138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506074"/>
                </a:solidFill>
              </a:defRPr>
            </a:pPr>
            <a:r>
              <a:t>Spacing rapi • Font mudah dibaca • Warna konsisten • Responsive • Proses utama tidak dibuat berlapis-lapis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6528816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06074"/>
                </a:solidFill>
              </a:defRPr>
            </a:pPr>
            <a:r>
              <a:t>Snack Inventory • Capstone / CP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438912"/>
            <a:ext cx="5303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03504"/>
            <a:ext cx="10424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t>Teknologi &amp; struktur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143000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Stack yang digunakan dibuat ringan dan mudah dipahami anggota tim.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12648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506074"/>
                </a:solidFill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66294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1325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609344"/>
            <a:ext cx="4526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t>Native PHP 8.x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04288"/>
            <a:ext cx="66294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468880"/>
            <a:ext cx="1325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109659"/>
                </a:solidFill>
              </a:defRPr>
            </a:pPr>
            <a:r>
              <a:t>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2450592"/>
            <a:ext cx="4526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t>MySQL / MariaDB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45536"/>
            <a:ext cx="66294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3310128"/>
            <a:ext cx="1325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704EBE"/>
                </a:solidFill>
              </a:defRPr>
            </a:pPr>
            <a:r>
              <a:t>Frontend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3291840"/>
            <a:ext cx="4526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t>HTML + CSS + Bootstrap 5 + 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86784"/>
            <a:ext cx="66294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4151376"/>
            <a:ext cx="1325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4133088"/>
            <a:ext cx="4526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t>XAMPP / Apache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28032"/>
            <a:ext cx="66294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4992624"/>
            <a:ext cx="1325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DC3746"/>
                </a:solidFill>
              </a:defRPr>
            </a:pPr>
            <a:r>
              <a:t>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4974336"/>
            <a:ext cx="4526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t>Git + GitHub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26679" y="1463040"/>
            <a:ext cx="37033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726679" y="146304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927848" y="1664208"/>
            <a:ext cx="393192" cy="393192"/>
          </a:xfrm>
          <a:prstGeom prst="roundRect">
            <a:avLst/>
          </a:prstGeom>
          <a:solidFill>
            <a:srgbClr val="EB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27848" y="1700784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1655064"/>
            <a:ext cx="280720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Kenapa stack ini?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2157984"/>
            <a:ext cx="280720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Cukup untuk scope inventory, mudah dijalankan di XAMPP, dan tidak menambah kompleksitas yang belum diperlukan.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26679" y="3566160"/>
            <a:ext cx="37033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26679" y="3566160"/>
            <a:ext cx="73152" cy="1874519"/>
          </a:xfrm>
          <a:prstGeom prst="rect">
            <a:avLst/>
          </a:prstGeom>
          <a:solidFill>
            <a:srgbClr val="109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927848" y="3767328"/>
            <a:ext cx="393192" cy="393192"/>
          </a:xfrm>
          <a:prstGeom prst="roundRect">
            <a:avLst/>
          </a:prstGeom>
          <a:solidFill>
            <a:srgbClr val="EB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27848" y="3803904"/>
            <a:ext cx="39319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109659"/>
                </a:solidFill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758184"/>
            <a:ext cx="280720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Struktur kerja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261104"/>
            <a:ext cx="280720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06074"/>
                </a:solidFill>
              </a:defRPr>
            </a:pPr>
            <a:r>
              <a:t>main = stable</a:t>
            </a:r>
            <a:br/>
            <a:r>
              <a:t>develop = integration</a:t>
            </a:r>
            <a:br/>
            <a:r>
              <a:t>feature/* = pekerjaan anggota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" y="6528816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06074"/>
                </a:solidFill>
              </a:defRPr>
            </a:pPr>
            <a:r>
              <a:t>Snack Inventory • Capstone / CP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438912"/>
            <a:ext cx="5303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03504"/>
            <a:ext cx="10424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lang="en-US" dirty="0"/>
              <a:t>MOCKUP APP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BF4608-EECA-4F61-832F-20EDBBC0EF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5452" y="4306872"/>
            <a:ext cx="4990580" cy="23513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B597EF9-974E-48CE-A1B4-7BDEE62CE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55387"/>
            <a:ext cx="5193436" cy="26063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A19695B-1106-447E-BE1E-82B1A72C65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1" y="4120854"/>
            <a:ext cx="5193436" cy="2466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AEB7321-62BC-44F6-A339-18293339A3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5452" y="1455387"/>
            <a:ext cx="4990580" cy="265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238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</a:defRPr>
            </a:pPr>
            <a:r>
              <a:t>Diskusi tim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6420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CDDDF8"/>
                </a:solidFill>
              </a:defRPr>
            </a:pPr>
            <a:r>
              <a:t>Sebelum lanjut coding, kita samakan 4 keputusan berikut.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23160"/>
            <a:ext cx="10515600" cy="658368"/>
          </a:xfrm>
          <a:prstGeom prst="roundRect">
            <a:avLst/>
          </a:prstGeom>
          <a:solidFill>
            <a:srgbClr val="1634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578608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542032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551176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D5E2F7"/>
                </a:solidFill>
              </a:defRPr>
            </a:pPr>
            <a:r>
              <a:t>Apakah fitur yang masuk sudah final?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09544"/>
            <a:ext cx="10515600" cy="658368"/>
          </a:xfrm>
          <a:prstGeom prst="roundRect">
            <a:avLst/>
          </a:prstGeom>
          <a:solidFill>
            <a:srgbClr val="1634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364991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328415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337560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D5E2F7"/>
                </a:solidFill>
              </a:defRPr>
            </a:pPr>
            <a:r>
              <a:t>Apakah schema perlu perubahan?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995928"/>
            <a:ext cx="10515600" cy="658368"/>
          </a:xfrm>
          <a:prstGeom prst="roundRect">
            <a:avLst/>
          </a:prstGeom>
          <a:solidFill>
            <a:srgbClr val="1634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151376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114800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Pembagian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4123944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D5E2F7"/>
                </a:solidFill>
              </a:defRPr>
            </a:pPr>
            <a:r>
              <a:t>Siapa mengambil modul / feature branch?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82312"/>
            <a:ext cx="10515600" cy="658368"/>
          </a:xfrm>
          <a:prstGeom prst="roundRect">
            <a:avLst/>
          </a:prstGeom>
          <a:solidFill>
            <a:srgbClr val="1634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493776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901184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Timeline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910328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D5E2F7"/>
                </a:solidFill>
              </a:defRPr>
            </a:pPr>
            <a:r>
              <a:t>Kapan target develop dan main?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893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BED2F0"/>
                </a:solidFill>
              </a:defRPr>
            </a:pPr>
            <a:r>
              <a:t>Satu scope • satu standar • satu workflow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843</Words>
  <Application>Microsoft Office PowerPoint</Application>
  <PresentationFormat>Widescreen</PresentationFormat>
  <Paragraphs>167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Imam Ilhab Rizqulloh</cp:lastModifiedBy>
  <cp:revision>7</cp:revision>
  <dcterms:created xsi:type="dcterms:W3CDTF">2013-01-27T09:14:16Z</dcterms:created>
  <dcterms:modified xsi:type="dcterms:W3CDTF">2026-09-28T08:57:02Z</dcterms:modified>
  <cp:category/>
</cp:coreProperties>
</file>